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media/image13.svg" ContentType="image/svg+xml"/>
  <Override PartName="/ppt/media/image15.svg" ContentType="image/svg+xml"/>
  <Override PartName="/ppt/media/image18.svg" ContentType="image/svg+xml"/>
  <Override PartName="/ppt/media/image4.svg" ContentType="image/svg+xml"/>
  <Override PartName="/ppt/media/image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8288000" cy="10287000"/>
  <p:notesSz cx="6858000" cy="9144000"/>
  <p:embeddedFontLst>
    <p:embeddedFont>
      <p:font typeface="Times New Roman Bold" panose="02020803070505020304"/>
      <p:bold r:id="rId14"/>
    </p:embeddedFont>
    <p:embeddedFont>
      <p:font typeface="Nunito Sans"/>
      <p:regular r:id="rId15"/>
    </p:embeddedFont>
    <p:embeddedFont>
      <p:font typeface="Times New Roman Italics" panose="02020503050405090304"/>
      <p:italic r:id="rId16"/>
    </p:embeddedFont>
    <p:embeddedFont>
      <p:font typeface="Poppins Bold" panose="00000800000000000000"/>
      <p:bold r:id="rId17"/>
    </p:embeddedFont>
    <p:embeddedFont>
      <p:font typeface="Calibri" panose="020F0502020204030204" charset="0"/>
      <p:regular r:id="rId18"/>
      <p:bold r:id="rId19"/>
      <p:italic r:id="rId20"/>
      <p:boldItalic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font" Target="fonts/font8.fntdata"/><Relationship Id="rId20" Type="http://schemas.openxmlformats.org/officeDocument/2006/relationships/font" Target="fonts/font7.fntdata"/><Relationship Id="rId2" Type="http://schemas.openxmlformats.org/officeDocument/2006/relationships/theme" Target="theme/theme1.xml"/><Relationship Id="rId19" Type="http://schemas.openxmlformats.org/officeDocument/2006/relationships/font" Target="fonts/font6.fntdata"/><Relationship Id="rId18" Type="http://schemas.openxmlformats.org/officeDocument/2006/relationships/font" Target="fonts/font5.fntdata"/><Relationship Id="rId17" Type="http://schemas.openxmlformats.org/officeDocument/2006/relationships/font" Target="fonts/font4.fntdata"/><Relationship Id="rId16" Type="http://schemas.openxmlformats.org/officeDocument/2006/relationships/font" Target="fonts/font3.fntdata"/><Relationship Id="rId15" Type="http://schemas.openxmlformats.org/officeDocument/2006/relationships/font" Target="fonts/font2.fntdata"/><Relationship Id="rId14" Type="http://schemas.openxmlformats.org/officeDocument/2006/relationships/font" Target="fonts/font1.fntdata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2" Type="http://schemas.openxmlformats.org/officeDocument/2006/relationships/image" Target="../media/image9.svg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2" Type="http://schemas.openxmlformats.org/officeDocument/2006/relationships/image" Target="../media/image9.svg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6.png"/><Relationship Id="rId6" Type="http://schemas.openxmlformats.org/officeDocument/2006/relationships/image" Target="../media/image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9.jpeg"/><Relationship Id="rId4" Type="http://schemas.openxmlformats.org/officeDocument/2006/relationships/image" Target="../media/image6.png"/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3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3992358" y="-25403"/>
            <a:ext cx="4295651" cy="4753394"/>
            <a:chOff x="0" y="0"/>
            <a:chExt cx="5727535" cy="633785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727573" cy="6337808"/>
            </a:xfrm>
            <a:custGeom>
              <a:avLst/>
              <a:gdLst/>
              <a:ahLst/>
              <a:cxnLst/>
              <a:rect l="l" t="t" r="r" b="b"/>
              <a:pathLst>
                <a:path w="5727573" h="6337808">
                  <a:moveTo>
                    <a:pt x="0" y="0"/>
                  </a:moveTo>
                  <a:lnTo>
                    <a:pt x="5727573" y="0"/>
                  </a:lnTo>
                  <a:lnTo>
                    <a:pt x="5727573" y="6337808"/>
                  </a:lnTo>
                  <a:lnTo>
                    <a:pt x="0" y="63378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t="-116412" r="-97249" b="-3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0" y="4902898"/>
            <a:ext cx="13605605" cy="5384102"/>
            <a:chOff x="0" y="0"/>
            <a:chExt cx="18140807" cy="717880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140807" cy="7178802"/>
            </a:xfrm>
            <a:custGeom>
              <a:avLst/>
              <a:gdLst/>
              <a:ahLst/>
              <a:cxnLst/>
              <a:rect l="l" t="t" r="r" b="b"/>
              <a:pathLst>
                <a:path w="18140807" h="7178802">
                  <a:moveTo>
                    <a:pt x="0" y="0"/>
                  </a:moveTo>
                  <a:lnTo>
                    <a:pt x="18140807" y="0"/>
                  </a:lnTo>
                  <a:lnTo>
                    <a:pt x="18140807" y="7178802"/>
                  </a:lnTo>
                  <a:lnTo>
                    <a:pt x="0" y="71788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3280" b="-211528"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>
            <a:off x="8907399" y="0"/>
            <a:ext cx="9396412" cy="10286971"/>
          </a:xfrm>
          <a:custGeom>
            <a:avLst/>
            <a:gdLst/>
            <a:ahLst/>
            <a:cxnLst/>
            <a:rect l="l" t="t" r="r" b="b"/>
            <a:pathLst>
              <a:path w="9396412" h="10286971">
                <a:moveTo>
                  <a:pt x="0" y="0"/>
                </a:moveTo>
                <a:lnTo>
                  <a:pt x="9396413" y="0"/>
                </a:lnTo>
                <a:lnTo>
                  <a:pt x="9396413" y="10286971"/>
                </a:lnTo>
                <a:lnTo>
                  <a:pt x="0" y="102869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 rot="0">
            <a:off x="0" y="0"/>
            <a:ext cx="7179745" cy="9824656"/>
            <a:chOff x="0" y="0"/>
            <a:chExt cx="9572993" cy="1309954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573006" cy="13099542"/>
            </a:xfrm>
            <a:custGeom>
              <a:avLst/>
              <a:gdLst/>
              <a:ahLst/>
              <a:cxnLst/>
              <a:rect l="l" t="t" r="r" b="b"/>
              <a:pathLst>
                <a:path w="9573006" h="13099542">
                  <a:moveTo>
                    <a:pt x="0" y="0"/>
                  </a:moveTo>
                  <a:lnTo>
                    <a:pt x="9573006" y="0"/>
                  </a:lnTo>
                  <a:lnTo>
                    <a:pt x="9573006" y="13099542"/>
                  </a:lnTo>
                  <a:lnTo>
                    <a:pt x="0" y="130995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25932" t="-65109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 rot="0">
            <a:off x="1323851" y="0"/>
            <a:ext cx="8473307" cy="4753394"/>
            <a:chOff x="0" y="0"/>
            <a:chExt cx="11297742" cy="633785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297793" cy="6337808"/>
            </a:xfrm>
            <a:custGeom>
              <a:avLst/>
              <a:gdLst/>
              <a:ahLst/>
              <a:cxnLst/>
              <a:rect l="l" t="t" r="r" b="b"/>
              <a:pathLst>
                <a:path w="11297793" h="6337808">
                  <a:moveTo>
                    <a:pt x="0" y="0"/>
                  </a:moveTo>
                  <a:lnTo>
                    <a:pt x="11297793" y="0"/>
                  </a:lnTo>
                  <a:lnTo>
                    <a:pt x="11297793" y="6337808"/>
                  </a:lnTo>
                  <a:lnTo>
                    <a:pt x="0" y="63378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t="-116414" b="-5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12" name="Freeform 12" descr="image(1)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245" b="-245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3825007" y="271101"/>
            <a:ext cx="12142888" cy="1628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480"/>
              </a:lnSpc>
            </a:pPr>
            <a:r>
              <a:rPr lang="en-US" sz="10400" u="sng">
                <a:solidFill>
                  <a:srgbClr val="07363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INSIGHTVISTA 2026</a:t>
            </a:r>
            <a:endParaRPr lang="en-US" sz="10400" u="sng">
              <a:solidFill>
                <a:srgbClr val="07363B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704146" y="1880787"/>
            <a:ext cx="15555154" cy="9571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</a:p>
          <a:p>
            <a:pPr algn="ctr">
              <a:lnSpc>
                <a:spcPts val="5280"/>
              </a:lnSpc>
            </a:pPr>
            <a:r>
              <a:rPr lang="en-US" sz="4400" b="1">
                <a:solidFill>
                  <a:srgbClr val="07363B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Subject : Data Analytics and visualization(1IT508)</a:t>
            </a:r>
            <a:endParaRPr lang="en-US" sz="4400" b="1">
              <a:solidFill>
                <a:srgbClr val="07363B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ctr">
              <a:lnSpc>
                <a:spcPts val="3360"/>
              </a:lnSpc>
            </a:pPr>
          </a:p>
          <a:p>
            <a:pPr algn="ctr">
              <a:lnSpc>
                <a:spcPts val="5520"/>
              </a:lnSpc>
            </a:pPr>
            <a:r>
              <a:rPr lang="en-US" sz="4600" b="1">
                <a:solidFill>
                  <a:srgbClr val="07363B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Title:</a:t>
            </a:r>
            <a:r>
              <a:rPr lang="en-US" sz="4600">
                <a:solidFill>
                  <a:srgbClr val="07363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Analysis of the Apps on the Playstore</a:t>
            </a:r>
            <a:endParaRPr lang="en-US" sz="4600">
              <a:solidFill>
                <a:srgbClr val="07363B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l">
              <a:lnSpc>
                <a:spcPts val="3360"/>
              </a:lnSpc>
            </a:pPr>
          </a:p>
          <a:p>
            <a:pPr algn="l">
              <a:lnSpc>
                <a:spcPts val="3360"/>
              </a:lnSpc>
            </a:pPr>
          </a:p>
          <a:p>
            <a:pPr algn="l">
              <a:lnSpc>
                <a:spcPts val="4800"/>
              </a:lnSpc>
            </a:pPr>
            <a:r>
              <a:rPr lang="en-US" sz="4000" b="1">
                <a:solidFill>
                  <a:srgbClr val="07363B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Group Name : HACKER</a:t>
            </a:r>
            <a:endParaRPr lang="en-US" sz="4000" b="1">
              <a:solidFill>
                <a:srgbClr val="07363B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l">
              <a:lnSpc>
                <a:spcPts val="4800"/>
              </a:lnSpc>
            </a:pPr>
            <a:r>
              <a:rPr lang="en-US" sz="4000" b="1">
                <a:solidFill>
                  <a:srgbClr val="07363B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 PEN No : 240840116011</a:t>
            </a:r>
            <a:endParaRPr lang="en-US" sz="4000" b="1">
              <a:solidFill>
                <a:srgbClr val="07363B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l">
              <a:lnSpc>
                <a:spcPts val="4800"/>
              </a:lnSpc>
            </a:pPr>
            <a:r>
              <a:rPr lang="en-US" sz="4000" b="1">
                <a:solidFill>
                  <a:srgbClr val="07363B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 PEN No : 240840116046</a:t>
            </a:r>
            <a:endParaRPr lang="en-US" sz="4000" b="1">
              <a:solidFill>
                <a:srgbClr val="07363B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l">
              <a:lnSpc>
                <a:spcPts val="4800"/>
              </a:lnSpc>
            </a:pPr>
            <a:r>
              <a:rPr lang="en-US" sz="4000" b="1">
                <a:solidFill>
                  <a:srgbClr val="07363B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 PEN No : 240840116061</a:t>
            </a:r>
            <a:endParaRPr lang="en-US" sz="4000" b="1">
              <a:solidFill>
                <a:srgbClr val="07363B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l">
              <a:lnSpc>
                <a:spcPts val="4800"/>
              </a:lnSpc>
            </a:pPr>
            <a:r>
              <a:rPr lang="en-US" sz="4000" b="1">
                <a:solidFill>
                  <a:srgbClr val="07363B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 PEN No : 240840116069</a:t>
            </a:r>
            <a:endParaRPr lang="en-US" sz="4000" b="1">
              <a:solidFill>
                <a:srgbClr val="07363B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l">
              <a:lnSpc>
                <a:spcPts val="4800"/>
              </a:lnSpc>
            </a:pPr>
            <a:r>
              <a:rPr lang="en-US" sz="4000" b="1">
                <a:solidFill>
                  <a:srgbClr val="07363B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 PEN No : 250843116006</a:t>
            </a:r>
            <a:endParaRPr lang="en-US" sz="4000" b="1">
              <a:solidFill>
                <a:srgbClr val="07363B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l">
              <a:lnSpc>
                <a:spcPts val="3360"/>
              </a:lnSpc>
            </a:pPr>
          </a:p>
          <a:p>
            <a:pPr algn="l">
              <a:lnSpc>
                <a:spcPts val="4800"/>
              </a:lnSpc>
            </a:pPr>
            <a:r>
              <a:rPr lang="en-US" sz="4000" b="1">
                <a:solidFill>
                  <a:srgbClr val="07363B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 </a:t>
            </a:r>
            <a:endParaRPr lang="en-US" sz="4000" b="1">
              <a:solidFill>
                <a:srgbClr val="07363B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l">
              <a:lnSpc>
                <a:spcPts val="3360"/>
              </a:lnSpc>
            </a:pPr>
          </a:p>
          <a:p>
            <a:pPr algn="ctr">
              <a:lnSpc>
                <a:spcPts val="3360"/>
              </a:lnSpc>
            </a:pPr>
          </a:p>
          <a:p>
            <a:pPr algn="ctr">
              <a:lnSpc>
                <a:spcPts val="3360"/>
              </a:lnSpc>
            </a:pPr>
          </a:p>
          <a:p>
            <a:pPr algn="ctr">
              <a:lnSpc>
                <a:spcPts val="3360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7979359" y="2312518"/>
            <a:ext cx="15956404" cy="15956404"/>
            <a:chOff x="0" y="0"/>
            <a:chExt cx="21275205" cy="21275205"/>
          </a:xfrm>
        </p:grpSpPr>
        <p:sp>
          <p:nvSpPr>
            <p:cNvPr id="3" name="Freeform 3"/>
            <p:cNvSpPr/>
            <p:nvPr/>
          </p:nvSpPr>
          <p:spPr>
            <a:xfrm>
              <a:off x="-25" y="0"/>
              <a:ext cx="10637545" cy="10660507"/>
            </a:xfrm>
            <a:custGeom>
              <a:avLst/>
              <a:gdLst/>
              <a:ahLst/>
              <a:cxnLst/>
              <a:rect l="l" t="t" r="r" b="b"/>
              <a:pathLst>
                <a:path w="10637545" h="10660507">
                  <a:moveTo>
                    <a:pt x="25" y="10660507"/>
                  </a:moveTo>
                  <a:cubicBezTo>
                    <a:pt x="-6071" y="7836027"/>
                    <a:pt x="1111402" y="5125212"/>
                    <a:pt x="3105937" y="3125470"/>
                  </a:cubicBezTo>
                  <a:cubicBezTo>
                    <a:pt x="5100472" y="1125728"/>
                    <a:pt x="7808620" y="1270"/>
                    <a:pt x="10632973" y="0"/>
                  </a:cubicBezTo>
                  <a:lnTo>
                    <a:pt x="10637545" y="10637647"/>
                  </a:lnTo>
                  <a:close/>
                </a:path>
              </a:pathLst>
            </a:custGeom>
            <a:gradFill rotWithShape="1">
              <a:gsLst>
                <a:gs pos="0">
                  <a:srgbClr val="6AD1FA">
                    <a:alpha val="100000"/>
                  </a:srgbClr>
                </a:gs>
                <a:gs pos="64000">
                  <a:srgbClr val="1F1F1F">
                    <a:alpha val="100000"/>
                  </a:srgbClr>
                </a:gs>
                <a:gs pos="100000">
                  <a:srgbClr val="1F1F1F">
                    <a:alpha val="100000"/>
                  </a:srgbClr>
                </a:gs>
              </a:gsLst>
              <a:path path="circle">
                <a:fillToRect l="100100" t="100100" r="-100" b="-100"/>
              </a:path>
              <a:tileRect r="-100200" b="-100200"/>
            </a:gradFill>
          </p:spPr>
        </p:sp>
      </p:grpSp>
      <p:grpSp>
        <p:nvGrpSpPr>
          <p:cNvPr id="4" name="Group 4"/>
          <p:cNvGrpSpPr/>
          <p:nvPr/>
        </p:nvGrpSpPr>
        <p:grpSpPr>
          <a:xfrm rot="0">
            <a:off x="-5801" y="2690041"/>
            <a:ext cx="3422856" cy="7617400"/>
            <a:chOff x="0" y="0"/>
            <a:chExt cx="4563808" cy="1015653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563745" cy="10156571"/>
            </a:xfrm>
            <a:custGeom>
              <a:avLst/>
              <a:gdLst/>
              <a:ahLst/>
              <a:cxnLst/>
              <a:rect l="l" t="t" r="r" b="b"/>
              <a:pathLst>
                <a:path w="4563745" h="10156571">
                  <a:moveTo>
                    <a:pt x="0" y="0"/>
                  </a:moveTo>
                  <a:lnTo>
                    <a:pt x="4563745" y="0"/>
                  </a:lnTo>
                  <a:lnTo>
                    <a:pt x="4563745" y="10156571"/>
                  </a:lnTo>
                  <a:lnTo>
                    <a:pt x="0" y="10156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l="-133652" r="-1" b="-4989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3532025" y="9691973"/>
            <a:ext cx="4207354" cy="402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80"/>
              </a:lnSpc>
            </a:pPr>
            <a:r>
              <a:rPr lang="en-US" sz="1400">
                <a:solidFill>
                  <a:srgbClr val="93A2A2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r>
            <a:endParaRPr lang="en-US" sz="1400">
              <a:solidFill>
                <a:srgbClr val="93A2A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grpSp>
        <p:nvGrpSpPr>
          <p:cNvPr id="7" name="Group 7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8" name="Freeform 8" descr="image(1)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45" b="-245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791032" y="1000125"/>
            <a:ext cx="16948347" cy="8077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20"/>
              </a:lnSpc>
            </a:pPr>
            <a:r>
              <a:rPr lang="en-US" sz="4100" b="1">
                <a:solidFill>
                  <a:srgbClr val="1F1F1F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Observation of Data:</a:t>
            </a:r>
            <a:endParaRPr lang="en-US" sz="4100" b="1">
              <a:solidFill>
                <a:srgbClr val="1F1F1F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1181735" lvl="1" indent="-591185" algn="l">
              <a:lnSpc>
                <a:spcPts val="4920"/>
              </a:lnSpc>
              <a:buAutoNum type="arabicPeriod"/>
            </a:pPr>
            <a:r>
              <a:rPr lang="en-US" sz="4100" b="1">
                <a:solidFill>
                  <a:srgbClr val="1F1F1F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Import pandas library</a:t>
            </a:r>
            <a:endParaRPr lang="en-US" sz="4100" b="1">
              <a:solidFill>
                <a:srgbClr val="1F1F1F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1181735" lvl="1" indent="-591185" algn="l">
              <a:lnSpc>
                <a:spcPts val="4920"/>
              </a:lnSpc>
              <a:buAutoNum type="arabicPeriod"/>
            </a:pPr>
            <a:r>
              <a:rPr lang="en-US" sz="4100" b="1">
                <a:solidFill>
                  <a:srgbClr val="1F1F1F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Use pd.read_excel(‘googleplaystore.xlsx’)</a:t>
            </a:r>
            <a:endParaRPr lang="en-US" sz="4100" b="1">
              <a:solidFill>
                <a:srgbClr val="1F1F1F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1181735" lvl="1" indent="-591185" algn="l">
              <a:lnSpc>
                <a:spcPts val="4920"/>
              </a:lnSpc>
              <a:buAutoNum type="arabicPeriod"/>
            </a:pPr>
            <a:r>
              <a:rPr lang="en-US" sz="4100" b="1">
                <a:solidFill>
                  <a:srgbClr val="1F1F1F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Now read to xlsx file to csv using df = pd.read_csv</a:t>
            </a:r>
            <a:endParaRPr lang="en-US" sz="4100" b="1">
              <a:solidFill>
                <a:srgbClr val="1F1F1F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1181735" lvl="1" indent="-591185" algn="l">
              <a:lnSpc>
                <a:spcPts val="4920"/>
              </a:lnSpc>
              <a:buAutoNum type="arabicPeriod"/>
            </a:pPr>
            <a:r>
              <a:rPr lang="en-US" sz="4100" b="1">
                <a:solidFill>
                  <a:srgbClr val="1F1F1F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Getting the count of rows &amp; columns using df.shape, columns = 13  , rows = 10841</a:t>
            </a:r>
            <a:endParaRPr lang="en-US" sz="4100" b="1">
              <a:solidFill>
                <a:srgbClr val="1F1F1F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1181735" lvl="1" indent="-591185" algn="l">
              <a:lnSpc>
                <a:spcPts val="4920"/>
              </a:lnSpc>
              <a:buAutoNum type="arabicPeriod"/>
            </a:pPr>
            <a:r>
              <a:rPr lang="en-US" sz="4100" b="1">
                <a:solidFill>
                  <a:srgbClr val="1F1F1F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Getting the count of duplicate records using df.duplicated.sum() = 483</a:t>
            </a:r>
            <a:endParaRPr lang="en-US" sz="4100" b="1">
              <a:solidFill>
                <a:srgbClr val="1F1F1F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1181735" lvl="1" indent="-591185" algn="l">
              <a:lnSpc>
                <a:spcPts val="4920"/>
              </a:lnSpc>
              <a:buAutoNum type="arabicPeriod"/>
            </a:pPr>
            <a:r>
              <a:rPr lang="en-US" sz="4100" b="1">
                <a:solidFill>
                  <a:srgbClr val="1F1F1F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Getting the count of null values in each column:</a:t>
            </a:r>
            <a:endParaRPr lang="en-US" sz="4100" b="1">
              <a:solidFill>
                <a:srgbClr val="1F1F1F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1181735" lvl="1" indent="-591185" algn="l">
              <a:lnSpc>
                <a:spcPts val="4920"/>
              </a:lnSpc>
            </a:pPr>
            <a:r>
              <a:rPr lang="en-US" sz="4100" b="1">
                <a:solidFill>
                  <a:srgbClr val="1F1F1F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Rating: 1474</a:t>
            </a:r>
            <a:endParaRPr lang="en-US" sz="4100" b="1">
              <a:solidFill>
                <a:srgbClr val="1F1F1F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1181735" lvl="1" indent="-591185" algn="l">
              <a:lnSpc>
                <a:spcPts val="4920"/>
              </a:lnSpc>
            </a:pPr>
            <a:r>
              <a:rPr lang="en-US" sz="4100" b="1">
                <a:solidFill>
                  <a:srgbClr val="1F1F1F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Type: 1</a:t>
            </a:r>
            <a:endParaRPr lang="en-US" sz="4100" b="1">
              <a:solidFill>
                <a:srgbClr val="1F1F1F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1181735" lvl="1" indent="-591185" algn="l">
              <a:lnSpc>
                <a:spcPts val="4920"/>
              </a:lnSpc>
            </a:pPr>
            <a:r>
              <a:rPr lang="en-US" sz="4100" b="1">
                <a:solidFill>
                  <a:srgbClr val="1F1F1F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Content rating: 1</a:t>
            </a:r>
            <a:endParaRPr lang="en-US" sz="4100" b="1">
              <a:solidFill>
                <a:srgbClr val="1F1F1F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1181735" lvl="1" indent="-591185" algn="l">
              <a:lnSpc>
                <a:spcPts val="4920"/>
              </a:lnSpc>
            </a:pPr>
            <a:r>
              <a:rPr lang="en-US" sz="4100" b="1">
                <a:solidFill>
                  <a:srgbClr val="1F1F1F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Current version: 8</a:t>
            </a:r>
            <a:endParaRPr lang="en-US" sz="4100" b="1">
              <a:solidFill>
                <a:srgbClr val="1F1F1F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1181735" lvl="1" indent="-591185" algn="l">
              <a:lnSpc>
                <a:spcPts val="4920"/>
              </a:lnSpc>
            </a:pPr>
            <a:r>
              <a:rPr lang="en-US" sz="4100" b="1">
                <a:solidFill>
                  <a:srgbClr val="1F1F1F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Android version: 3</a:t>
            </a:r>
            <a:endParaRPr lang="en-US" sz="4100" b="1">
              <a:solidFill>
                <a:srgbClr val="1F1F1F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982" y="3970696"/>
            <a:ext cx="7472334" cy="6315837"/>
          </a:xfrm>
          <a:custGeom>
            <a:avLst/>
            <a:gdLst/>
            <a:ahLst/>
            <a:cxnLst/>
            <a:rect l="l" t="t" r="r" b="b"/>
            <a:pathLst>
              <a:path w="7472334" h="6315837">
                <a:moveTo>
                  <a:pt x="0" y="0"/>
                </a:moveTo>
                <a:lnTo>
                  <a:pt x="7472334" y="0"/>
                </a:lnTo>
                <a:lnTo>
                  <a:pt x="7472334" y="6315837"/>
                </a:lnTo>
                <a:lnTo>
                  <a:pt x="0" y="6315837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3532025" y="9691973"/>
            <a:ext cx="4207354" cy="402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80"/>
              </a:lnSpc>
            </a:pPr>
            <a:r>
              <a:rPr lang="en-US" sz="1400">
                <a:solidFill>
                  <a:srgbClr val="93A2A2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r>
            <a:endParaRPr lang="en-US" sz="1400">
              <a:solidFill>
                <a:srgbClr val="93A2A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grpSp>
        <p:nvGrpSpPr>
          <p:cNvPr id="4" name="Group 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 descr="image(1)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45" b="-245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368228" y="1257415"/>
            <a:ext cx="16371151" cy="884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60"/>
              </a:lnSpc>
            </a:pPr>
            <a:r>
              <a:rPr lang="en-US" sz="5300" b="1">
                <a:solidFill>
                  <a:srgbClr val="1F1F1F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Steps to clean raw data:</a:t>
            </a:r>
            <a:endParaRPr lang="en-US" sz="5300" b="1">
              <a:solidFill>
                <a:srgbClr val="1F1F1F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1319530" lvl="1" indent="-659765" algn="l">
              <a:lnSpc>
                <a:spcPts val="5880"/>
              </a:lnSpc>
              <a:buAutoNum type="arabicPeriod"/>
            </a:pPr>
            <a:r>
              <a:rPr lang="en-US" sz="4900" b="1">
                <a:solidFill>
                  <a:srgbClr val="1F1F1F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Dropping the duplicate records using df_cleaned = df.drop_duplicates</a:t>
            </a:r>
            <a:endParaRPr lang="en-US" sz="4900" b="1">
              <a:solidFill>
                <a:srgbClr val="1F1F1F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1319530" lvl="1" indent="-659765" algn="l">
              <a:lnSpc>
                <a:spcPts val="5880"/>
              </a:lnSpc>
              <a:buAutoNum type="arabicPeriod"/>
            </a:pPr>
            <a:r>
              <a:rPr lang="en-US" sz="4900" b="1">
                <a:solidFill>
                  <a:srgbClr val="1F1F1F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Filling the null values in the column of rating with average rating values:</a:t>
            </a:r>
            <a:endParaRPr lang="en-US" sz="4900" b="1">
              <a:solidFill>
                <a:srgbClr val="1F1F1F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1319530" lvl="1" indent="-659765" algn="l">
              <a:lnSpc>
                <a:spcPts val="5880"/>
              </a:lnSpc>
            </a:pPr>
            <a:r>
              <a:rPr lang="en-US" sz="4900" b="1">
                <a:solidFill>
                  <a:srgbClr val="1F1F1F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mean_rating = df_cleaned[‘Rating’].mean()</a:t>
            </a:r>
            <a:endParaRPr lang="en-US" sz="4900" b="1">
              <a:solidFill>
                <a:srgbClr val="1F1F1F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1319530" lvl="1" indent="-659765" algn="l">
              <a:lnSpc>
                <a:spcPts val="5880"/>
              </a:lnSpc>
            </a:pPr>
            <a:r>
              <a:rPr lang="en-US" sz="4900" b="1">
                <a:solidFill>
                  <a:srgbClr val="1F1F1F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df_cleaned[‘Rating’].fillna(mean_rating,inplace=True</a:t>
            </a:r>
            <a:endParaRPr lang="en-US" sz="4900" b="1">
              <a:solidFill>
                <a:srgbClr val="1F1F1F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659765" lvl="1" indent="0" algn="l">
              <a:lnSpc>
                <a:spcPts val="5880"/>
              </a:lnSpc>
              <a:buNone/>
            </a:pPr>
            <a:r>
              <a:rPr lang="en-US" sz="4900" b="1">
                <a:solidFill>
                  <a:srgbClr val="1F1F1F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3. Dropping the null values from other columns:</a:t>
            </a:r>
            <a:endParaRPr lang="en-US" sz="4900" b="1">
              <a:solidFill>
                <a:srgbClr val="1F1F1F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1319530" lvl="1" indent="-659765" algn="l">
              <a:lnSpc>
                <a:spcPts val="5880"/>
              </a:lnSpc>
            </a:pPr>
            <a:r>
              <a:rPr lang="en-US" sz="4900" b="1">
                <a:solidFill>
                  <a:srgbClr val="1F1F1F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df_cleaned = df_cleaned.dropna([‘Type’, ‘Content Rating’, ‘Current version’, ‘Android Version’)]</a:t>
            </a:r>
            <a:endParaRPr lang="en-US" sz="4900" b="1">
              <a:solidFill>
                <a:srgbClr val="1F1F1F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727075" lvl="1" indent="-363220" algn="l">
              <a:lnSpc>
                <a:spcPts val="3240"/>
              </a:lnSpc>
            </a:pPr>
          </a:p>
          <a:p>
            <a:pPr marL="727075" lvl="1" indent="-363220" algn="l">
              <a:lnSpc>
                <a:spcPts val="3240"/>
              </a:lnSpc>
            </a:pPr>
          </a:p>
          <a:p>
            <a:pPr marL="727075" lvl="1" indent="-363220" algn="l">
              <a:lnSpc>
                <a:spcPts val="324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982" y="3970696"/>
            <a:ext cx="7472334" cy="6315837"/>
          </a:xfrm>
          <a:custGeom>
            <a:avLst/>
            <a:gdLst/>
            <a:ahLst/>
            <a:cxnLst/>
            <a:rect l="l" t="t" r="r" b="b"/>
            <a:pathLst>
              <a:path w="7472334" h="6315837">
                <a:moveTo>
                  <a:pt x="0" y="0"/>
                </a:moveTo>
                <a:lnTo>
                  <a:pt x="7472334" y="0"/>
                </a:lnTo>
                <a:lnTo>
                  <a:pt x="7472334" y="6315837"/>
                </a:lnTo>
                <a:lnTo>
                  <a:pt x="0" y="6315837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3532025" y="9691973"/>
            <a:ext cx="4207354" cy="402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80"/>
              </a:lnSpc>
            </a:pPr>
            <a:r>
              <a:rPr lang="en-US" sz="1400">
                <a:solidFill>
                  <a:srgbClr val="93A2A2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r>
            <a:endParaRPr lang="en-US" sz="1400">
              <a:solidFill>
                <a:srgbClr val="93A2A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grpSp>
        <p:nvGrpSpPr>
          <p:cNvPr id="4" name="Group 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 descr="image(1)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45" b="-245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028700" y="1047979"/>
            <a:ext cx="16830751" cy="8210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</a:pPr>
            <a:r>
              <a:rPr lang="en-US" sz="5600">
                <a:solidFill>
                  <a:srgbClr val="1F1F1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Final Clean Dataset:</a:t>
            </a:r>
            <a:endParaRPr lang="en-US" sz="5600">
              <a:solidFill>
                <a:srgbClr val="1F1F1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310640" lvl="1" indent="-655320" algn="l">
              <a:lnSpc>
                <a:spcPts val="5760"/>
              </a:lnSpc>
              <a:buFont typeface="Arial" panose="020B0604020202020204"/>
              <a:buChar char="•"/>
            </a:pPr>
            <a:r>
              <a:rPr lang="en-US" sz="4800">
                <a:solidFill>
                  <a:srgbClr val="1F1F1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Before cleaning number of rows and columns = (10841,13), </a:t>
            </a:r>
            <a:endParaRPr lang="en-US" sz="4800">
              <a:solidFill>
                <a:srgbClr val="1F1F1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310640" lvl="1" indent="-655320" algn="l">
              <a:lnSpc>
                <a:spcPts val="5760"/>
              </a:lnSpc>
            </a:pPr>
            <a:r>
              <a:rPr lang="en-US" sz="4800">
                <a:solidFill>
                  <a:srgbClr val="1F1F1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	After cleaning: (10346,13)</a:t>
            </a:r>
            <a:endParaRPr lang="en-US" sz="4800">
              <a:solidFill>
                <a:srgbClr val="1F1F1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310640" lvl="1" indent="-655320" algn="l">
              <a:lnSpc>
                <a:spcPts val="5760"/>
              </a:lnSpc>
              <a:buFont typeface="Arial" panose="020B0604020202020204"/>
              <a:buChar char="•"/>
            </a:pPr>
            <a:r>
              <a:rPr lang="en-US" sz="4800">
                <a:solidFill>
                  <a:srgbClr val="1F1F1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No missing values</a:t>
            </a:r>
            <a:endParaRPr lang="en-US" sz="4800">
              <a:solidFill>
                <a:srgbClr val="1F1F1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310640" lvl="1" indent="-655320" algn="l">
              <a:lnSpc>
                <a:spcPts val="5760"/>
              </a:lnSpc>
              <a:buFont typeface="Arial" panose="020B0604020202020204"/>
              <a:buChar char="•"/>
            </a:pPr>
            <a:r>
              <a:rPr lang="en-US" sz="4800">
                <a:solidFill>
                  <a:srgbClr val="1F1F1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Converting the file to CSV:</a:t>
            </a:r>
            <a:endParaRPr lang="en-US" sz="4800">
              <a:solidFill>
                <a:srgbClr val="1F1F1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310640" lvl="1" indent="-655320" algn="l">
              <a:lnSpc>
                <a:spcPts val="5760"/>
              </a:lnSpc>
            </a:pPr>
            <a:r>
              <a:rPr lang="en-US" sz="4800">
                <a:solidFill>
                  <a:srgbClr val="1F1F1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df_cleaned.to_csv(‘googleplaystore_cleaned.csv’,index=False)</a:t>
            </a:r>
            <a:endParaRPr lang="en-US" sz="4800">
              <a:solidFill>
                <a:srgbClr val="1F1F1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310640" lvl="1" indent="-655320" algn="l">
              <a:lnSpc>
                <a:spcPts val="5760"/>
              </a:lnSpc>
              <a:buFont typeface="Arial" panose="020B0604020202020204"/>
              <a:buChar char="•"/>
            </a:pPr>
            <a:r>
              <a:rPr lang="en-US" sz="4800">
                <a:solidFill>
                  <a:srgbClr val="1F1F1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Now Downloading the file:</a:t>
            </a:r>
            <a:endParaRPr lang="en-US" sz="4800">
              <a:solidFill>
                <a:srgbClr val="1F1F1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310640" lvl="1" indent="-655320" algn="l">
              <a:lnSpc>
                <a:spcPts val="5760"/>
              </a:lnSpc>
            </a:pPr>
            <a:r>
              <a:rPr lang="en-US" sz="4800">
                <a:solidFill>
                  <a:srgbClr val="1F1F1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from google.colab import files</a:t>
            </a:r>
            <a:endParaRPr lang="en-US" sz="4800">
              <a:solidFill>
                <a:srgbClr val="1F1F1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310640" lvl="1" indent="-655320" algn="l">
              <a:lnSpc>
                <a:spcPts val="5760"/>
              </a:lnSpc>
            </a:pPr>
            <a:r>
              <a:rPr lang="en-US" sz="4800">
                <a:solidFill>
                  <a:srgbClr val="1F1F1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files.download(‘googleplaystore_cleaned.csv’)</a:t>
            </a:r>
            <a:endParaRPr lang="en-US" sz="4800">
              <a:solidFill>
                <a:srgbClr val="1F1F1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764540" lvl="1" indent="-382270" algn="l">
              <a:lnSpc>
                <a:spcPts val="3360"/>
              </a:lnSpc>
            </a:pPr>
          </a:p>
          <a:p>
            <a:pPr marL="764540" lvl="1" indent="-382270" algn="l">
              <a:lnSpc>
                <a:spcPts val="3360"/>
              </a:lnSpc>
            </a:pPr>
          </a:p>
          <a:p>
            <a:pPr marL="1256030" lvl="1" indent="-628015" algn="l">
              <a:lnSpc>
                <a:spcPts val="5520"/>
              </a:lnSpc>
            </a:pPr>
            <a:r>
              <a:rPr lang="en-US" sz="4600">
                <a:solidFill>
                  <a:srgbClr val="1F1F1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lang="en-US" sz="4600">
              <a:solidFill>
                <a:srgbClr val="1F1F1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BEBEBE">
                <a:alpha val="100000"/>
              </a:srgbClr>
            </a:gs>
          </a:gsLst>
          <a:lin ang="5400012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3605596" y="-18498"/>
            <a:ext cx="4682404" cy="5008902"/>
            <a:chOff x="0" y="0"/>
            <a:chExt cx="6243206" cy="66785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243193" cy="6678549"/>
            </a:xfrm>
            <a:custGeom>
              <a:avLst/>
              <a:gdLst/>
              <a:ahLst/>
              <a:cxnLst/>
              <a:rect l="l" t="t" r="r" b="b"/>
              <a:pathLst>
                <a:path w="6243193" h="6678549">
                  <a:moveTo>
                    <a:pt x="0" y="0"/>
                  </a:moveTo>
                  <a:lnTo>
                    <a:pt x="6243193" y="0"/>
                  </a:lnTo>
                  <a:lnTo>
                    <a:pt x="6243193" y="6678549"/>
                  </a:lnTo>
                  <a:lnTo>
                    <a:pt x="0" y="66785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t="-105372" r="-119698" b="-4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13449433" y="-95"/>
            <a:ext cx="4838719" cy="3729085"/>
          </a:xfrm>
          <a:custGeom>
            <a:avLst/>
            <a:gdLst/>
            <a:ahLst/>
            <a:cxnLst/>
            <a:rect l="l" t="t" r="r" b="b"/>
            <a:pathLst>
              <a:path w="4838719" h="3729085">
                <a:moveTo>
                  <a:pt x="0" y="0"/>
                </a:moveTo>
                <a:lnTo>
                  <a:pt x="4838719" y="0"/>
                </a:lnTo>
                <a:lnTo>
                  <a:pt x="4838719" y="3729085"/>
                </a:lnTo>
                <a:lnTo>
                  <a:pt x="0" y="37290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0" y="7384209"/>
            <a:ext cx="4679166" cy="2902782"/>
          </a:xfrm>
          <a:custGeom>
            <a:avLst/>
            <a:gdLst/>
            <a:ahLst/>
            <a:cxnLst/>
            <a:rect l="l" t="t" r="r" b="b"/>
            <a:pathLst>
              <a:path w="4679166" h="2902782">
                <a:moveTo>
                  <a:pt x="0" y="0"/>
                </a:moveTo>
                <a:lnTo>
                  <a:pt x="4679166" y="0"/>
                </a:lnTo>
                <a:lnTo>
                  <a:pt x="4679166" y="2902781"/>
                </a:lnTo>
                <a:lnTo>
                  <a:pt x="0" y="29027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7" name="Freeform 7" descr="image(1)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245" b="-245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 rot="0">
            <a:off x="0" y="-18498"/>
            <a:ext cx="18288000" cy="10305488"/>
            <a:chOff x="0" y="0"/>
            <a:chExt cx="22120842" cy="1246533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120816" cy="12465375"/>
            </a:xfrm>
            <a:custGeom>
              <a:avLst/>
              <a:gdLst/>
              <a:ahLst/>
              <a:cxnLst/>
              <a:rect l="l" t="t" r="r" b="b"/>
              <a:pathLst>
                <a:path w="22120816" h="12465375">
                  <a:moveTo>
                    <a:pt x="0" y="0"/>
                  </a:moveTo>
                  <a:lnTo>
                    <a:pt x="22120816" y="0"/>
                  </a:lnTo>
                  <a:lnTo>
                    <a:pt x="22120816" y="12465375"/>
                  </a:lnTo>
                  <a:lnTo>
                    <a:pt x="0" y="124653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6917" b="-6917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293980" y="-28575"/>
            <a:ext cx="12048754" cy="953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60"/>
              </a:lnSpc>
            </a:pPr>
            <a:r>
              <a:rPr lang="en-US" sz="4800" b="1">
                <a:solidFill>
                  <a:srgbClr val="F96E0C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Dashboard:</a:t>
            </a:r>
            <a:endParaRPr lang="en-US" sz="4800" b="1">
              <a:solidFill>
                <a:srgbClr val="F96E0C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3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532025" y="9691973"/>
            <a:ext cx="4207354" cy="402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80"/>
              </a:lnSpc>
            </a:pPr>
            <a:r>
              <a:rPr lang="en-US" sz="1400">
                <a:solidFill>
                  <a:srgbClr val="93A2A2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r>
            <a:endParaRPr lang="en-US" sz="1400">
              <a:solidFill>
                <a:srgbClr val="93A2A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grpSp>
        <p:nvGrpSpPr>
          <p:cNvPr id="3" name="Group 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 descr="image(1)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t="-245" b="-245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973623" y="621646"/>
            <a:ext cx="17118149" cy="8753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5200">
                <a:solidFill>
                  <a:srgbClr val="1F1F1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Insights from the Dashboard:</a:t>
            </a:r>
            <a:endParaRPr lang="en-US" sz="5200">
              <a:solidFill>
                <a:srgbClr val="1F1F1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l">
              <a:lnSpc>
                <a:spcPts val="4970"/>
              </a:lnSpc>
            </a:pPr>
            <a:r>
              <a:rPr lang="en-US" sz="3600">
                <a:solidFill>
                  <a:srgbClr val="1F1F1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1. High Average Rating: The average app rating is 4.19 out of 5, indicating generally positive user feedback across the apps.</a:t>
            </a:r>
            <a:endParaRPr lang="en-US" sz="3600">
              <a:solidFill>
                <a:srgbClr val="1F1F1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l">
              <a:lnSpc>
                <a:spcPts val="4970"/>
              </a:lnSpc>
            </a:pPr>
            <a:r>
              <a:rPr lang="en-US" sz="3600">
                <a:solidFill>
                  <a:srgbClr val="1F1F1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2. Leading Apps by Rating: </a:t>
            </a:r>
            <a:r>
              <a:rPr lang="en-US" sz="3600" i="1">
                <a:solidFill>
                  <a:srgbClr val="1F1F1F"/>
                </a:solidFill>
                <a:latin typeface="Times New Roman Italics" panose="02020503050405090304"/>
                <a:ea typeface="Times New Roman Italics" panose="02020503050405090304"/>
                <a:cs typeface="Times New Roman Italics" panose="02020503050405090304"/>
                <a:sym typeface="Times New Roman Italics" panose="02020503050405090304"/>
              </a:rPr>
              <a:t>ROBLOX</a:t>
            </a:r>
            <a:r>
              <a:rPr lang="en-US" sz="3600">
                <a:solidFill>
                  <a:srgbClr val="1F1F1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ranks first in the displayed chart with a rating of approximately 41, followed by </a:t>
            </a:r>
            <a:r>
              <a:rPr lang="en-US" sz="3600" i="1">
                <a:solidFill>
                  <a:srgbClr val="1F1F1F"/>
                </a:solidFill>
                <a:latin typeface="Times New Roman Italics" panose="02020503050405090304"/>
                <a:ea typeface="Times New Roman Italics" panose="02020503050405090304"/>
                <a:cs typeface="Times New Roman Italics" panose="02020503050405090304"/>
                <a:sym typeface="Times New Roman Italics" panose="02020503050405090304"/>
              </a:rPr>
              <a:t>8 Ball Pool</a:t>
            </a:r>
            <a:r>
              <a:rPr lang="en-US" sz="3600">
                <a:solidFill>
                  <a:srgbClr val="1F1F1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(32) and </a:t>
            </a:r>
            <a:r>
              <a:rPr lang="en-US" sz="3600" i="1">
                <a:solidFill>
                  <a:srgbClr val="1F1F1F"/>
                </a:solidFill>
                <a:latin typeface="Times New Roman Italics" panose="02020503050405090304"/>
                <a:ea typeface="Times New Roman Italics" panose="02020503050405090304"/>
                <a:cs typeface="Times New Roman Italics" panose="02020503050405090304"/>
                <a:sym typeface="Times New Roman Italics" panose="02020503050405090304"/>
              </a:rPr>
              <a:t>Zombie Catchers</a:t>
            </a:r>
            <a:r>
              <a:rPr lang="en-US" sz="3600">
                <a:solidFill>
                  <a:srgbClr val="1F1F1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(28). These values appear to represent aggregated ratings rather than individual app star ratings.</a:t>
            </a:r>
            <a:endParaRPr lang="en-US" sz="3600">
              <a:solidFill>
                <a:srgbClr val="1F1F1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l">
              <a:lnSpc>
                <a:spcPts val="4970"/>
              </a:lnSpc>
            </a:pPr>
            <a:r>
              <a:rPr lang="en-US" sz="3600">
                <a:solidFill>
                  <a:srgbClr val="1F1F1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3. Game Category Leads Reviews: The GAME category has the highest number of reviews, at approximately 1.4 billion, significantly exceeding most other categories. This suggests strong user engagement with gaming apps.</a:t>
            </a:r>
            <a:endParaRPr lang="en-US" sz="3600">
              <a:solidFill>
                <a:srgbClr val="1F1F1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l">
              <a:lnSpc>
                <a:spcPts val="4970"/>
              </a:lnSpc>
            </a:pPr>
            <a:r>
              <a:rPr lang="en-US" sz="3600">
                <a:solidFill>
                  <a:srgbClr val="1F1F1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4. Installs Are Concentrated in Major Categories: The dashboard shows approximately 147 billion total installs. The largest displayed category shares are GAME (21.51%), COMMUNICATION (16.47%), and SOCIAL (8.53%), indicating their substantial contribution to total installs.</a:t>
            </a:r>
            <a:endParaRPr lang="en-US" sz="3600">
              <a:solidFill>
                <a:srgbClr val="1F1F1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l">
              <a:lnSpc>
                <a:spcPts val="312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532025" y="9691973"/>
            <a:ext cx="4207354" cy="402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80"/>
              </a:lnSpc>
            </a:pPr>
            <a:r>
              <a:rPr lang="en-US" sz="1400">
                <a:solidFill>
                  <a:srgbClr val="93A2A2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r>
            <a:endParaRPr lang="en-US" sz="1400">
              <a:solidFill>
                <a:srgbClr val="93A2A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grpSp>
        <p:nvGrpSpPr>
          <p:cNvPr id="3" name="Group 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 descr="image(1)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t="-245" b="-245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1310621" y="1785995"/>
            <a:ext cx="16265547" cy="6686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5200" b="1">
                <a:solidFill>
                  <a:srgbClr val="1F1F1F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Recommendation:</a:t>
            </a:r>
            <a:endParaRPr lang="en-US" sz="5200" b="1">
              <a:solidFill>
                <a:srgbClr val="1F1F1F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l">
              <a:lnSpc>
                <a:spcPts val="6720"/>
              </a:lnSpc>
            </a:pPr>
          </a:p>
          <a:p>
            <a:pPr marL="1168400" lvl="1" indent="-584200" algn="l">
              <a:lnSpc>
                <a:spcPts val="5520"/>
              </a:lnSpc>
              <a:buFont typeface="Arial" panose="020B0604020202020204"/>
              <a:buChar char="•"/>
            </a:pPr>
            <a:r>
              <a:rPr lang="en-US" sz="4000">
                <a:solidFill>
                  <a:srgbClr val="1F1F1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Focus on High-Performing Categories: Prioritize opportunities in the GAME, COMMUNICATION, and SOCIAL categories, as they account for large shares of total installs.</a:t>
            </a:r>
            <a:endParaRPr lang="en-US" sz="4000">
              <a:solidFill>
                <a:srgbClr val="1F1F1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168400" lvl="1" indent="-584200" algn="l">
              <a:lnSpc>
                <a:spcPts val="5520"/>
              </a:lnSpc>
              <a:buFont typeface="Arial" panose="020B0604020202020204"/>
              <a:buChar char="•"/>
            </a:pPr>
            <a:r>
              <a:rPr lang="en-US" sz="4000">
                <a:solidFill>
                  <a:srgbClr val="1F1F1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Learn from Successful Apps: Analyze popular apps such as ROBLOX and 8 Ball Pool to understand their user experience, features, engagement strategies, and retention techniques.</a:t>
            </a:r>
            <a:endParaRPr lang="en-US" sz="4000">
              <a:solidFill>
                <a:srgbClr val="1F1F1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635760" lvl="1" indent="-817880" algn="l">
              <a:lnSpc>
                <a:spcPts val="6720"/>
              </a:lnSpc>
            </a:pPr>
          </a:p>
        </p:txBody>
      </p:sp>
      <p:sp>
        <p:nvSpPr>
          <p:cNvPr id="6" name="TextBox 6"/>
          <p:cNvSpPr txBox="1"/>
          <p:nvPr/>
        </p:nvSpPr>
        <p:spPr>
          <a:xfrm>
            <a:off x="548621" y="9691973"/>
            <a:ext cx="2048551" cy="439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93A2A2"/>
                </a:solidFill>
                <a:latin typeface="Nunito Sans"/>
                <a:ea typeface="Nunito Sans"/>
                <a:cs typeface="Nunito Sans"/>
                <a:sym typeface="Nunito Sans"/>
              </a:rPr>
              <a:t>Confidential</a:t>
            </a:r>
            <a:endParaRPr lang="en-US" sz="1400">
              <a:solidFill>
                <a:srgbClr val="93A2A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AD1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3605596" y="5278107"/>
            <a:ext cx="4682404" cy="5008902"/>
            <a:chOff x="0" y="0"/>
            <a:chExt cx="6243206" cy="6678536"/>
          </a:xfrm>
        </p:grpSpPr>
        <p:sp>
          <p:nvSpPr>
            <p:cNvPr id="3" name="Freeform 3"/>
            <p:cNvSpPr/>
            <p:nvPr/>
          </p:nvSpPr>
          <p:spPr>
            <a:xfrm flipH="1">
              <a:off x="0" y="0"/>
              <a:ext cx="6243193" cy="6678549"/>
            </a:xfrm>
            <a:custGeom>
              <a:avLst/>
              <a:gdLst/>
              <a:ahLst/>
              <a:cxnLst/>
              <a:rect l="l" t="t" r="r" b="b"/>
              <a:pathLst>
                <a:path w="6243193" h="6678549">
                  <a:moveTo>
                    <a:pt x="6243193" y="0"/>
                  </a:moveTo>
                  <a:lnTo>
                    <a:pt x="0" y="0"/>
                  </a:lnTo>
                  <a:lnTo>
                    <a:pt x="0" y="6678549"/>
                  </a:lnTo>
                  <a:lnTo>
                    <a:pt x="6243193" y="6678549"/>
                  </a:lnTo>
                  <a:lnTo>
                    <a:pt x="6243193" y="0"/>
                  </a:lnTo>
                  <a:close/>
                </a:path>
              </a:pathLst>
            </a:custGeom>
            <a:blipFill>
              <a:blip r:embed="rId1"/>
              <a:stretch>
                <a:fillRect t="-105372" r="-119698" b="-4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13532025" y="9691973"/>
            <a:ext cx="4207354" cy="402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80"/>
              </a:lnSpc>
            </a:pPr>
            <a:r>
              <a:rPr lang="en-US" sz="1400">
                <a:solidFill>
                  <a:srgbClr val="1F1F1F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r>
            <a:endParaRPr lang="en-US" sz="1400">
              <a:solidFill>
                <a:srgbClr val="1F1F1F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19" y="297504"/>
            <a:ext cx="2755135" cy="4843520"/>
          </a:xfrm>
          <a:custGeom>
            <a:avLst/>
            <a:gdLst/>
            <a:ahLst/>
            <a:cxnLst/>
            <a:rect l="l" t="t" r="r" b="b"/>
            <a:pathLst>
              <a:path w="2755135" h="4843520">
                <a:moveTo>
                  <a:pt x="0" y="0"/>
                </a:moveTo>
                <a:lnTo>
                  <a:pt x="2755135" y="0"/>
                </a:lnTo>
                <a:lnTo>
                  <a:pt x="2755135" y="4843520"/>
                </a:lnTo>
                <a:lnTo>
                  <a:pt x="0" y="48435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7" name="Freeform 7" descr="image(1)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45" b="-245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2551824" y="3971039"/>
            <a:ext cx="13184553" cy="3251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665"/>
              </a:lnSpc>
            </a:pPr>
            <a:r>
              <a:rPr lang="en-US" sz="10800" b="1">
                <a:solidFill>
                  <a:srgbClr val="1F1F1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Thank you!</a:t>
            </a:r>
            <a:endParaRPr lang="en-US" sz="10800" b="1">
              <a:solidFill>
                <a:srgbClr val="1F1F1F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grpSp>
        <p:nvGrpSpPr>
          <p:cNvPr id="9" name="Group 9"/>
          <p:cNvGrpSpPr/>
          <p:nvPr/>
        </p:nvGrpSpPr>
        <p:grpSpPr>
          <a:xfrm rot="0">
            <a:off x="10545032" y="5454329"/>
            <a:ext cx="2402996" cy="112576"/>
            <a:chOff x="0" y="0"/>
            <a:chExt cx="3203994" cy="15010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203956" cy="150114"/>
            </a:xfrm>
            <a:custGeom>
              <a:avLst/>
              <a:gdLst/>
              <a:ahLst/>
              <a:cxnLst/>
              <a:rect l="l" t="t" r="r" b="b"/>
              <a:pathLst>
                <a:path w="3203956" h="150114">
                  <a:moveTo>
                    <a:pt x="0" y="150114"/>
                  </a:moveTo>
                  <a:cubicBezTo>
                    <a:pt x="1068578" y="150114"/>
                    <a:pt x="2135378" y="0"/>
                    <a:pt x="3203956" y="0"/>
                  </a:cubicBezTo>
                </a:path>
              </a:pathLst>
            </a:custGeom>
            <a:blipFill>
              <a:blip r:embed="rId5">
                <a:alphaModFix amt="0"/>
              </a:blip>
              <a:stretch>
                <a:fillRect t="-365887" r="-1" b="-365879"/>
              </a:stretch>
            </a:blipFill>
            <a:ln w="38100" cap="sq">
              <a:solidFill>
                <a:srgbClr val="1F1F1F"/>
              </a:solidFill>
              <a:prstDash val="solid"/>
              <a:miter/>
            </a:ln>
          </p:spPr>
        </p:sp>
      </p:grpSp>
      <p:sp>
        <p:nvSpPr>
          <p:cNvPr id="11" name="TextBox 11"/>
          <p:cNvSpPr txBox="1"/>
          <p:nvPr/>
        </p:nvSpPr>
        <p:spPr>
          <a:xfrm>
            <a:off x="548621" y="9691973"/>
            <a:ext cx="2048551" cy="439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1F1F1F"/>
                </a:solidFill>
                <a:latin typeface="Nunito Sans"/>
                <a:ea typeface="Nunito Sans"/>
                <a:cs typeface="Nunito Sans"/>
                <a:sym typeface="Nunito Sans"/>
              </a:rPr>
              <a:t>Confidential</a:t>
            </a:r>
            <a:endParaRPr lang="en-US" sz="1400">
              <a:solidFill>
                <a:srgbClr val="1F1F1F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2666</Words>
  <Application>WPS Presentation</Application>
  <PresentationFormat>On-screen Show (4:3)</PresentationFormat>
  <Paragraphs>90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1" baseType="lpstr">
      <vt:lpstr>Arial</vt:lpstr>
      <vt:lpstr>SimSun</vt:lpstr>
      <vt:lpstr>Wingdings</vt:lpstr>
      <vt:lpstr>Times New Roman</vt:lpstr>
      <vt:lpstr>Times New Roman Bold</vt:lpstr>
      <vt:lpstr>Nunito Sans</vt:lpstr>
      <vt:lpstr>Arial</vt:lpstr>
      <vt:lpstr>Times New Roman Italics</vt:lpstr>
      <vt:lpstr>Poppins Bold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Subject : Data Analytics and visualization(1IT508) Title: Understanding What Drives App Success on the Google Play Store Group Name : HACKERS PEN No : 240840116011 PEN No : 240840116046 PEN No : 240840116061 PEN No : 240840116069 PEN No : 250843116006</dc:title>
  <dc:creator/>
  <cp:lastModifiedBy>Raj Gandhi</cp:lastModifiedBy>
  <cp:revision>2</cp:revision>
  <dcterms:created xsi:type="dcterms:W3CDTF">2006-08-16T00:00:00Z</dcterms:created>
  <dcterms:modified xsi:type="dcterms:W3CDTF">2026-10-12T11:03:39Z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445C7D4FC96C4356BB89C119524A2857_12</vt:lpwstr>
  </property>
</Properties>
</file>